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71" r:id="rId5"/>
    <p:sldId id="284" r:id="rId6"/>
    <p:sldId id="261" r:id="rId7"/>
    <p:sldId id="281" r:id="rId8"/>
    <p:sldId id="285" r:id="rId9"/>
    <p:sldId id="277" r:id="rId10"/>
    <p:sldId id="286" r:id="rId11"/>
    <p:sldId id="280" r:id="rId12"/>
    <p:sldId id="287" r:id="rId13"/>
    <p:sldId id="283" r:id="rId14"/>
    <p:sldId id="289" r:id="rId15"/>
    <p:sldId id="278" r:id="rId16"/>
    <p:sldId id="290" r:id="rId17"/>
    <p:sldId id="282" r:id="rId18"/>
    <p:sldId id="291" r:id="rId19"/>
    <p:sldId id="279" r:id="rId20"/>
    <p:sldId id="288" r:id="rId21"/>
    <p:sldId id="276" r:id="rId22"/>
  </p:sldIdLst>
  <p:sldSz cx="12192000" cy="6858000"/>
  <p:notesSz cx="6858000" cy="9144000"/>
  <p:embeddedFontLst>
    <p:embeddedFont>
      <p:font typeface="Pretendard Light" panose="020B0600000101010101" charset="-127"/>
      <p:regular r:id="rId23"/>
    </p:embeddedFont>
    <p:embeddedFont>
      <p:font typeface="Pretendard Medium" panose="020B0600000101010101" charset="-127"/>
      <p:regular r:id="rId24"/>
    </p:embeddedFont>
    <p:embeddedFont>
      <p:font typeface="Pretendard SemiBold" panose="020B0600000101010101" charset="-127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130"/>
    <a:srgbClr val="677A6E"/>
    <a:srgbClr val="26412E"/>
    <a:srgbClr val="033721"/>
    <a:srgbClr val="182A2A"/>
    <a:srgbClr val="044A2C"/>
    <a:srgbClr val="366E56"/>
    <a:srgbClr val="465555"/>
    <a:srgbClr val="2F3F3F"/>
    <a:srgbClr val="394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CE876-ACBF-C374-2F54-037CAF615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534881-9873-31F6-2A28-8DFC66CA7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B3DAA4-E235-8762-65E5-4AC72B4F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016427-8A24-FE6D-5AD0-C5095DAE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B0A98-BCB6-46D3-9D29-E9F8E226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CD073-A08E-F936-E7C4-5F9FBCBE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D6E69-44DC-46E5-0732-84792F073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C96B2-C6C5-9B12-6FFE-376E65DC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A89BF-EA19-312A-2C75-BB9D9849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BA3E9D-BE30-F4F0-7FF4-86BF9006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08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8513F-C82C-14EA-10FE-AA7180E5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869ACF-8DA2-F8DA-3656-7F62560C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19D87-1E88-CBC2-6E7F-EE9A6428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36930-260D-553F-E38C-57BB5D97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1C1442-0F1B-B822-5EA1-E9D243CA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73637-814F-D307-0BD4-C4C9CB9B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2511E1-A2D2-10ED-938D-56F2C6DF4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F50D1B-A746-298B-181A-70D7A20E8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FD6D94-7708-D51E-72DD-D9F45F59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A70AAC-8643-9DD3-198D-C04921F6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2F3CC-B418-A31E-9E82-DD830E0D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17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CF3C7-56BD-E051-9356-6D78CCF1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E5CAF4-302B-B3C0-A9F5-F1DCFBA0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D92745-44D7-8650-0FB4-EBA715CF1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8BD420-0979-CC8D-1CF9-E24369CD5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B6FB2C-65BB-4A0B-FE82-74D71C7C7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32871-FEEE-F247-089C-7B28E210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A0B6DA-90B3-7CAB-C1B1-09CC433E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4D9594-1946-F444-E1F9-8AA74052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8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CD5A4-9A54-7BA2-E4C2-09FFB7CC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E46C53-CEB0-CE8A-4778-540C5A24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F1E8C9-6379-F0FB-EAA2-30BB4E7B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C48F19-49D4-2607-C3CA-F811FC88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45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E2D95E-1CFE-6AFF-26E7-F509B9DE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3743E8-F3A4-F0DD-A788-5DD6E687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6B9BC-D9C1-BD61-5376-7F5CBB1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66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9BDD4-4548-18BA-E063-524D6079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6F9DA-160D-C039-ADD9-49D79E3F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6992A8-2938-3751-DEC5-D2EA709D6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D922C9-2B61-6634-E7FF-8BF209764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6862F1-E0A7-C147-521D-D2E46748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1F106C-9470-3A38-0C8D-FB7C51CF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7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7C1C7-A4FE-3F5F-8418-E3D2E048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B02E89-95CF-62F2-3E83-C1D382BE1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AEBFD0-970D-F4FD-BD68-89FBA4D31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4B8551-8DE7-D34E-245F-40F643C1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F743E9-F694-78D3-B6FE-3222D3B6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44DB5-2DC7-ED28-88B9-31128973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8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9A2F6-DBE2-409D-096C-E506DDFE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BD0C48-90AD-12D8-31B4-F6C158A3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B1126-DAAC-145C-972A-A349536D0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8AAC3-8184-2838-DA4B-75A924CE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479F24-44DE-D30B-F591-4412C448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12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63DDBE-0879-5FC2-F70A-C40617BB7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DE0BFE-3856-CEFD-9F57-37E90A58C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276FE-25D2-257A-9F59-C406D36D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429F-C47E-4C45-B5EC-03BEE8A1DE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856046-C73A-C261-0FA7-55A00D01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94A00-6BB0-2CE4-63EE-B67BA49E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60FB5-99A7-4C1A-ADDD-913C5704AB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2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F479CF-E5E3-A9A6-CC06-31C272B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811FA1-FFFC-FE8B-DC08-C44541E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8A171-F2A8-7EB7-918A-C7FED8A80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fld id="{FBDA429F-C47E-4C45-B5EC-03BEE8A1DE28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C8D7F-335F-DE66-16A2-753CA8638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D0D49E-8239-45DD-7706-84BB8CBA2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fld id="{D1060FB5-99A7-4C1A-ADDD-913C5704AB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114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50" charset="-127"/>
          <a:ea typeface="Pretendard Light" panose="0200040300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6.jpeg"/><Relationship Id="rId7" Type="http://schemas.openxmlformats.org/officeDocument/2006/relationships/image" Target="../media/image10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pencv.org/3.4/d4/d86/group__imgproc__filter.html#ga564869aa33e58769b4469101aac458f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폰트, 그린이(가) 표시된 사진&#10;&#10;자동 생성된 설명">
            <a:extLst>
              <a:ext uri="{FF2B5EF4-FFF2-40B4-BE49-F238E27FC236}">
                <a16:creationId xmlns:a16="http://schemas.microsoft.com/office/drawing/2014/main" id="{EA5F516A-7D17-60BF-6F80-9ABE14DED6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1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643A2F-E325-EE3A-9ADD-5408D8EF5C4C}"/>
              </a:ext>
            </a:extLst>
          </p:cNvPr>
          <p:cNvSpPr txBox="1"/>
          <p:nvPr/>
        </p:nvSpPr>
        <p:spPr>
          <a:xfrm>
            <a:off x="2652319" y="2434553"/>
            <a:ext cx="6887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과제 </a:t>
            </a:r>
            <a:r>
              <a:rPr lang="en-US" altLang="ko-KR" sz="7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#1</a:t>
            </a:r>
            <a:endParaRPr lang="ko-KR" altLang="en-US" sz="7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03C15-CB5F-6B84-839A-F8B7B72BDFC3}"/>
              </a:ext>
            </a:extLst>
          </p:cNvPr>
          <p:cNvSpPr txBox="1"/>
          <p:nvPr/>
        </p:nvSpPr>
        <p:spPr>
          <a:xfrm>
            <a:off x="1852351" y="3483177"/>
            <a:ext cx="8487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Image Transformations / Filters / Image Pyramids / Median Blur </a:t>
            </a:r>
            <a:r>
              <a:rPr lang="ko-KR" altLang="en-US" sz="20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 구현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BC3AC-E016-CED8-7126-185AC9B6D82D}"/>
              </a:ext>
            </a:extLst>
          </p:cNvPr>
          <p:cNvSpPr txBox="1"/>
          <p:nvPr/>
        </p:nvSpPr>
        <p:spPr>
          <a:xfrm>
            <a:off x="823519" y="612396"/>
            <a:ext cx="1828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컴퓨터비전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D9F9F-D2AF-0C49-A45D-1AF62BB3FE8A}"/>
              </a:ext>
            </a:extLst>
          </p:cNvPr>
          <p:cNvSpPr txBox="1"/>
          <p:nvPr/>
        </p:nvSpPr>
        <p:spPr>
          <a:xfrm>
            <a:off x="8272849" y="5234354"/>
            <a:ext cx="2809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2025712918</a:t>
            </a:r>
          </a:p>
          <a:p>
            <a:pPr algn="l"/>
            <a:r>
              <a:rPr lang="ko-KR" altLang="en-US" sz="2000" dirty="0" err="1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데이터사이언스융합학과</a:t>
            </a:r>
            <a:endParaRPr lang="en-US" altLang="ko-KR" sz="20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l"/>
            <a:r>
              <a:rPr lang="ko-KR" altLang="en-US" sz="20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최수지</a:t>
            </a:r>
          </a:p>
        </p:txBody>
      </p:sp>
    </p:spTree>
    <p:extLst>
      <p:ext uri="{BB962C8B-B14F-4D97-AF65-F5344CB8AC3E}">
        <p14:creationId xmlns:p14="http://schemas.microsoft.com/office/powerpoint/2010/main" val="134802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1986-E923-CBAE-9B3E-78FF1344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6FB1D1-3845-BCAC-2A02-E82F8051FDB6}"/>
              </a:ext>
            </a:extLst>
          </p:cNvPr>
          <p:cNvSpPr txBox="1"/>
          <p:nvPr/>
        </p:nvSpPr>
        <p:spPr>
          <a:xfrm>
            <a:off x="428626" y="1965967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4F4F4079-43F2-F91F-094F-2248C59EF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B511306-35BE-F987-7AEB-3E00E0D6C3B9}"/>
              </a:ext>
            </a:extLst>
          </p:cNvPr>
          <p:cNvSpPr txBox="1"/>
          <p:nvPr/>
        </p:nvSpPr>
        <p:spPr>
          <a:xfrm>
            <a:off x="428626" y="860733"/>
            <a:ext cx="11368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1-1. Translation, Rotation, Affine/Perspective Transformation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행렬을 구해보세요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행렬의 파라미터는 자유롭게 설정하세요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구성한 행렬을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cv2.warpAffine, cv2.wrapPerpective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함수를 이용하여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적용해 변형해보세요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600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Transform matrix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float32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 타입이여야 오류가 나지 않습니다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5A8CA58-70BE-9CAF-5400-F437AA96E82B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B6D845-24F7-82B4-E5AF-EC360479B4AF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986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Image Transformations (20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3262D-CA99-0034-4076-600517E46202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7C3D56-95DF-A5CB-A1D2-C65E6FBA3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28" y="1965967"/>
            <a:ext cx="5848072" cy="462760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5698C99-7314-03FC-EBDC-9F16E4610CD0}"/>
              </a:ext>
            </a:extLst>
          </p:cNvPr>
          <p:cNvSpPr/>
          <p:nvPr/>
        </p:nvSpPr>
        <p:spPr>
          <a:xfrm>
            <a:off x="1828925" y="2335299"/>
            <a:ext cx="5183535" cy="803317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E6B35-60D2-7627-342A-37209F115B16}"/>
              </a:ext>
            </a:extLst>
          </p:cNvPr>
          <p:cNvSpPr txBox="1"/>
          <p:nvPr/>
        </p:nvSpPr>
        <p:spPr>
          <a:xfrm>
            <a:off x="7272213" y="2506124"/>
            <a:ext cx="4571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Translate : x, y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만큼 이동하는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2x3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변환 행렬을 만들어서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warpAffine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넘김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행렬의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열은 이동을 의미함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43EF8-431A-9B10-C3E3-0FC14B4D9772}"/>
              </a:ext>
            </a:extLst>
          </p:cNvPr>
          <p:cNvSpPr txBox="1"/>
          <p:nvPr/>
        </p:nvSpPr>
        <p:spPr>
          <a:xfrm>
            <a:off x="7272213" y="3437594"/>
            <a:ext cx="4571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Rotate 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 중심 기준 회전을 위하여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getRotationMatrix2D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행렬 구함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scale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1.0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크기 변화 없이 회전만 적용함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D8DBBD-F0F9-ACD1-32C9-A830A3DDF9A7}"/>
              </a:ext>
            </a:extLst>
          </p:cNvPr>
          <p:cNvSpPr/>
          <p:nvPr/>
        </p:nvSpPr>
        <p:spPr>
          <a:xfrm>
            <a:off x="1828924" y="3209698"/>
            <a:ext cx="5183535" cy="917459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4327C9-479B-32E0-09EB-790EB07B2AB3}"/>
              </a:ext>
            </a:extLst>
          </p:cNvPr>
          <p:cNvSpPr/>
          <p:nvPr/>
        </p:nvSpPr>
        <p:spPr>
          <a:xfrm>
            <a:off x="1828923" y="4198239"/>
            <a:ext cx="5183535" cy="1102810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E58BA-F971-C33A-28D2-3651529FE962}"/>
              </a:ext>
            </a:extLst>
          </p:cNvPr>
          <p:cNvSpPr txBox="1"/>
          <p:nvPr/>
        </p:nvSpPr>
        <p:spPr>
          <a:xfrm>
            <a:off x="7272200" y="4426478"/>
            <a:ext cx="4571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AffineTransformation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: 3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개의 대응점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src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→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dst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2*3 affine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행렬 구함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이동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회전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스케일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기울임을 동시에 적용하여 이미지가 비틀어졌고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평행선은 변환 후에도 유지됨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082AC2E-D173-7BB6-F1EE-61C66C97A3EC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750767" y="1658800"/>
            <a:ext cx="1600136" cy="556180"/>
          </a:xfrm>
          <a:prstGeom prst="bentConnector2">
            <a:avLst/>
          </a:prstGeom>
          <a:ln>
            <a:solidFill>
              <a:srgbClr val="26413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16">
            <a:extLst>
              <a:ext uri="{FF2B5EF4-FFF2-40B4-BE49-F238E27FC236}">
                <a16:creationId xmlns:a16="http://schemas.microsoft.com/office/drawing/2014/main" id="{CDFCCCFF-3EAF-E17D-6C6A-5B8106A48DC9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>
            <a:off x="806415" y="2157948"/>
            <a:ext cx="2532990" cy="487971"/>
          </a:xfrm>
          <a:prstGeom prst="bentConnector4">
            <a:avLst>
              <a:gd name="adj1" fmla="val 32652"/>
              <a:gd name="adj2" fmla="val 146847"/>
            </a:avLst>
          </a:prstGeom>
          <a:ln>
            <a:solidFill>
              <a:srgbClr val="26413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16">
            <a:extLst>
              <a:ext uri="{FF2B5EF4-FFF2-40B4-BE49-F238E27FC236}">
                <a16:creationId xmlns:a16="http://schemas.microsoft.com/office/drawing/2014/main" id="{1612FB8C-9659-D6CF-9A6C-8B133038115A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>
            <a:off x="642689" y="2321675"/>
            <a:ext cx="3614203" cy="1241734"/>
          </a:xfrm>
          <a:prstGeom prst="bentConnector4">
            <a:avLst>
              <a:gd name="adj1" fmla="val 22713"/>
              <a:gd name="adj2" fmla="val 131844"/>
            </a:avLst>
          </a:prstGeom>
          <a:ln>
            <a:solidFill>
              <a:srgbClr val="26413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16">
            <a:extLst>
              <a:ext uri="{FF2B5EF4-FFF2-40B4-BE49-F238E27FC236}">
                <a16:creationId xmlns:a16="http://schemas.microsoft.com/office/drawing/2014/main" id="{AEC77640-90A8-CBBD-D879-1E12689548C3}"/>
              </a:ext>
            </a:extLst>
          </p:cNvPr>
          <p:cNvCxnSpPr>
            <a:cxnSpLocks/>
            <a:endCxn id="47" idx="1"/>
          </p:cNvCxnSpPr>
          <p:nvPr/>
        </p:nvCxnSpPr>
        <p:spPr>
          <a:xfrm rot="5400000">
            <a:off x="802378" y="2161987"/>
            <a:ext cx="4774733" cy="2721642"/>
          </a:xfrm>
          <a:prstGeom prst="bentConnector4">
            <a:avLst>
              <a:gd name="adj1" fmla="val 17014"/>
              <a:gd name="adj2" fmla="val 126560"/>
            </a:avLst>
          </a:prstGeom>
          <a:ln>
            <a:solidFill>
              <a:srgbClr val="26413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33FED89-9551-E1E7-6BA7-B797ABB7A058}"/>
              </a:ext>
            </a:extLst>
          </p:cNvPr>
          <p:cNvSpPr/>
          <p:nvPr/>
        </p:nvSpPr>
        <p:spPr>
          <a:xfrm>
            <a:off x="1828923" y="5392195"/>
            <a:ext cx="5183535" cy="1035959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275996-F2E4-461A-3924-08D820AF8966}"/>
              </a:ext>
            </a:extLst>
          </p:cNvPr>
          <p:cNvSpPr txBox="1"/>
          <p:nvPr/>
        </p:nvSpPr>
        <p:spPr>
          <a:xfrm>
            <a:off x="7272200" y="5494675"/>
            <a:ext cx="4571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PerspectiveTransformation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원본에서 비스듬하게 찍힌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개의 꼭짓점을 이미지 모서리로 매핑해서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정면에서 본 것처럼 원근 보정을 적용함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getPerspectiveTransform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3*3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변환 행렬을 구하고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warpPerspective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적용함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999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90C655-446B-D61C-D97C-95C500B13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36716"/>
              </p:ext>
            </p:extLst>
          </p:nvPr>
        </p:nvGraphicFramePr>
        <p:xfrm>
          <a:off x="541296" y="2609701"/>
          <a:ext cx="11109408" cy="3505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568">
                  <a:extLst>
                    <a:ext uri="{9D8B030D-6E8A-4147-A177-3AD203B41FA5}">
                      <a16:colId xmlns:a16="http://schemas.microsoft.com/office/drawing/2014/main" val="2924995223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3924379694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1939024217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1752221060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3462895158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510652721"/>
                    </a:ext>
                  </a:extLst>
                </a:gridCol>
              </a:tblGrid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원본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Translation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Rotation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Affine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Perspective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Transformation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176461"/>
                  </a:ext>
                </a:extLst>
              </a:tr>
              <a:tr h="1845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이미지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33004"/>
                  </a:ext>
                </a:extLst>
              </a:tr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결과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이미지가 오른쪽으로 </a:t>
                      </a:r>
                      <a:r>
                        <a:rPr lang="en-US" altLang="ko-KR" sz="1200" dirty="0"/>
                        <a:t>50px, </a:t>
                      </a:r>
                      <a:r>
                        <a:rPr lang="ko-KR" altLang="en-US" sz="1200" dirty="0"/>
                        <a:t>아래로 </a:t>
                      </a:r>
                      <a:r>
                        <a:rPr lang="en-US" altLang="ko-KR" sz="1200" dirty="0"/>
                        <a:t>30px </a:t>
                      </a:r>
                      <a:r>
                        <a:rPr lang="ko-KR" altLang="en-US" sz="1200" dirty="0"/>
                        <a:t>이동했고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빈 영역은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검정으로 </a:t>
                      </a:r>
                      <a:r>
                        <a:rPr lang="ko-KR" altLang="en-US" sz="1200" dirty="0" err="1"/>
                        <a:t>채워짐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45</a:t>
                      </a:r>
                      <a:r>
                        <a:rPr lang="ko-KR" altLang="en-US" sz="1200" dirty="0"/>
                        <a:t>도 회전 시 이미지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모서리가 잘리고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검정 영역이 생김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출력 크기를 원본과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동일하게 유지했기 때문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점 매핑으로 이미지가 기울어지고 찌그러졌지만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원본의 평행선은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유지됨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점 매핑으로 원근감이 보정된 것처럼 보임</a:t>
                      </a:r>
                      <a:r>
                        <a:rPr lang="en-US" altLang="ko-KR" sz="1200" dirty="0"/>
                        <a:t>. affine</a:t>
                      </a:r>
                      <a:r>
                        <a:rPr lang="ko-KR" altLang="en-US" sz="1200" dirty="0"/>
                        <a:t>보다 더 크게 왜곡 가능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42183"/>
                  </a:ext>
                </a:extLst>
              </a:tr>
            </a:tbl>
          </a:graphicData>
        </a:graphic>
      </p:graphicFrame>
      <p:pic>
        <p:nvPicPr>
          <p:cNvPr id="21" name="그래픽 20">
            <a:extLst>
              <a:ext uri="{FF2B5EF4-FFF2-40B4-BE49-F238E27FC236}">
                <a16:creationId xmlns:a16="http://schemas.microsoft.com/office/drawing/2014/main" id="{0470BF54-988F-E540-4623-1D00151EB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C158207-EA93-9A6E-0191-E4BA869A43E8}"/>
              </a:ext>
            </a:extLst>
          </p:cNvPr>
          <p:cNvSpPr txBox="1"/>
          <p:nvPr/>
        </p:nvSpPr>
        <p:spPr>
          <a:xfrm>
            <a:off x="428626" y="860733"/>
            <a:ext cx="11368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1-1. Translation, Rotation, Affine/Perspective Transformation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행렬을 구해보세요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행렬의 파라미터는 자유롭게 설정하세요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구성한 행렬을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cv2.warpAffine, cv2.wrapPerpective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함수를 이용하여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적용해 변형해보세요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600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Transform matrix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float32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 타입이여야 오류가 나지 않습니다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45F76AB-99DB-6FF5-866A-D38ED21E03ED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3861153-703D-22D1-A26D-311C5D3F8491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986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Image Transformations (20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92199E-CDAA-F529-16C3-5CBECB3839C5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84BC9-F88F-9437-1143-05395FBA92E2}"/>
              </a:ext>
            </a:extLst>
          </p:cNvPr>
          <p:cNvSpPr txBox="1"/>
          <p:nvPr/>
        </p:nvSpPr>
        <p:spPr>
          <a:xfrm>
            <a:off x="428626" y="1965967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이미지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FDC530-BF6A-274B-D573-B08FBE45DD5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996" y="3469183"/>
            <a:ext cx="144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4EFD84-7961-C377-116C-E265CAFD03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005" y="3469183"/>
            <a:ext cx="1440000" cy="14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8F03618-9D73-AE5F-AD43-728AC77AE8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795" y="3466879"/>
            <a:ext cx="1440000" cy="144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943A537-BF1B-FABA-7C46-CCC7F8CB43F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601" y="3466879"/>
            <a:ext cx="1440000" cy="144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8941B21-2CD2-0EA2-2C7A-B2AC14F4491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400" y="346687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1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F05E-546A-88D8-5BCF-C1F625289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447A13BE-020A-F456-242D-2FFD57190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8BE6FF-9974-C3B9-E7BD-92A52084372A}"/>
              </a:ext>
            </a:extLst>
          </p:cNvPr>
          <p:cNvSpPr txBox="1"/>
          <p:nvPr/>
        </p:nvSpPr>
        <p:spPr>
          <a:xfrm>
            <a:off x="428626" y="860733"/>
            <a:ext cx="10704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2-1. 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Filter, Sobel Filter, Laplacian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‘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적용해보세요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필터의 크기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분산은 자유롭게 정해보세요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88EEA76-A796-F5FB-A2A6-76023E79B825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FD693B3-DEA4-410D-8EE7-9BA22396D32B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7F12B7-9B5C-3A2E-9770-105C979A2559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0D5B4-C15E-8DB2-8929-1967F3C4C034}"/>
              </a:ext>
            </a:extLst>
          </p:cNvPr>
          <p:cNvSpPr txBox="1"/>
          <p:nvPr/>
        </p:nvSpPr>
        <p:spPr>
          <a:xfrm>
            <a:off x="428626" y="1494024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504603-004A-7190-CD8D-86AD8B05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9" y="2201009"/>
            <a:ext cx="6197089" cy="3240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945DF77-097E-9338-F7DC-E7C4970423D7}"/>
              </a:ext>
            </a:extLst>
          </p:cNvPr>
          <p:cNvSpPr/>
          <p:nvPr/>
        </p:nvSpPr>
        <p:spPr>
          <a:xfrm>
            <a:off x="1019557" y="2618858"/>
            <a:ext cx="5183535" cy="495046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352F05-2AD4-A65B-64F0-57D5614AFEE3}"/>
              </a:ext>
            </a:extLst>
          </p:cNvPr>
          <p:cNvSpPr/>
          <p:nvPr/>
        </p:nvSpPr>
        <p:spPr>
          <a:xfrm>
            <a:off x="1019556" y="3200391"/>
            <a:ext cx="5183535" cy="1143009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DDDC15-515F-5B48-509E-D2A6C5345ABB}"/>
              </a:ext>
            </a:extLst>
          </p:cNvPr>
          <p:cNvSpPr/>
          <p:nvPr/>
        </p:nvSpPr>
        <p:spPr>
          <a:xfrm>
            <a:off x="1019556" y="4448421"/>
            <a:ext cx="5183535" cy="803201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57C500-5E0A-F096-B226-A84195D383AE}"/>
              </a:ext>
            </a:extLst>
          </p:cNvPr>
          <p:cNvSpPr txBox="1"/>
          <p:nvPr/>
        </p:nvSpPr>
        <p:spPr>
          <a:xfrm>
            <a:off x="6438132" y="2635381"/>
            <a:ext cx="542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Gaussian_filter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: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ksize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=(7,7), sigma=1.5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GaussianBlur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적용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커널 크기와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sigma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직접 지정해서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Blur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정도 조절함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0E2F8-2086-AD15-D930-85B383C0BF90}"/>
              </a:ext>
            </a:extLst>
          </p:cNvPr>
          <p:cNvSpPr txBox="1"/>
          <p:nvPr/>
        </p:nvSpPr>
        <p:spPr>
          <a:xfrm>
            <a:off x="6438132" y="3435187"/>
            <a:ext cx="542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Sobel : grayscale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변환 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방향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y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방향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Sobel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각각 구하고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magnitude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계산함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CV_64F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음수 값도 보존한 뒤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clip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해서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uint8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변환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3C168-F1A3-A928-550A-29CCB788E319}"/>
              </a:ext>
            </a:extLst>
          </p:cNvPr>
          <p:cNvSpPr txBox="1"/>
          <p:nvPr/>
        </p:nvSpPr>
        <p:spPr>
          <a:xfrm>
            <a:off x="6438132" y="4619188"/>
            <a:ext cx="542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Laplacian: grayscale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변환 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적용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convertScaleAbs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절대값 변환하여 결과 이미지 생성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4EE0-5DC4-41F1-930C-407185C7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C74EC08F-F6F4-9EF7-C064-10B2FFC17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61FC7A-7AF4-9DE9-43F3-B77F470CDE2E}"/>
              </a:ext>
            </a:extLst>
          </p:cNvPr>
          <p:cNvSpPr txBox="1"/>
          <p:nvPr/>
        </p:nvSpPr>
        <p:spPr>
          <a:xfrm>
            <a:off x="428626" y="860733"/>
            <a:ext cx="10704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2-1. 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Filter, Sobel Filter, Laplacian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‘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적용해보세요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필터의 크기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분산은 자유롭게 정해보세요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6F25A3F-3F94-A91E-DE36-261DBC61FFC6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9970979-733F-7848-F2B2-B6094773A752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5367F-AD3F-1694-72CB-F3CC3FFEE2C7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E2CC9-5BD2-44FE-CE28-E0A871099CDB}"/>
              </a:ext>
            </a:extLst>
          </p:cNvPr>
          <p:cNvSpPr txBox="1"/>
          <p:nvPr/>
        </p:nvSpPr>
        <p:spPr>
          <a:xfrm>
            <a:off x="428626" y="1537745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이미지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D8708F-860F-271D-8825-200761781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612652"/>
              </p:ext>
            </p:extLst>
          </p:nvPr>
        </p:nvGraphicFramePr>
        <p:xfrm>
          <a:off x="1410451" y="2609701"/>
          <a:ext cx="9257840" cy="3322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568">
                  <a:extLst>
                    <a:ext uri="{9D8B030D-6E8A-4147-A177-3AD203B41FA5}">
                      <a16:colId xmlns:a16="http://schemas.microsoft.com/office/drawing/2014/main" val="2924995223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3924379694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1939024217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1752221060"/>
                    </a:ext>
                  </a:extLst>
                </a:gridCol>
                <a:gridCol w="1851568">
                  <a:extLst>
                    <a:ext uri="{9D8B030D-6E8A-4147-A177-3AD203B41FA5}">
                      <a16:colId xmlns:a16="http://schemas.microsoft.com/office/drawing/2014/main" val="3462895158"/>
                    </a:ext>
                  </a:extLst>
                </a:gridCol>
              </a:tblGrid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원본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Gaussian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Sobel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Laplacian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176461"/>
                  </a:ext>
                </a:extLst>
              </a:tr>
              <a:tr h="1845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이미지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33004"/>
                  </a:ext>
                </a:extLst>
              </a:tr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결과 분석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노이즈가 줄었지만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이미지 전체가 흐려짐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Edge</a:t>
                      </a:r>
                      <a:r>
                        <a:rPr lang="ko-KR" altLang="en-US" sz="1200" dirty="0"/>
                        <a:t>가 잘 검출됨</a:t>
                      </a:r>
                      <a:r>
                        <a:rPr lang="en-US" altLang="ko-KR" sz="1200" dirty="0"/>
                        <a:t>. 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x, y </a:t>
                      </a:r>
                      <a:r>
                        <a:rPr lang="ko-KR" altLang="en-US" sz="1200" dirty="0"/>
                        <a:t>방향 </a:t>
                      </a:r>
                      <a:r>
                        <a:rPr lang="en-US" altLang="ko-KR" sz="1200" dirty="0"/>
                        <a:t>gradient</a:t>
                      </a:r>
                      <a:r>
                        <a:rPr lang="ko-KR" altLang="en-US" sz="1200" dirty="0"/>
                        <a:t>의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크기를 합쳐서 윤곽선이 선명하게 나옴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차 미분이라 </a:t>
                      </a:r>
                      <a:r>
                        <a:rPr lang="en-US" altLang="ko-KR" sz="1200" dirty="0"/>
                        <a:t>Edge</a:t>
                      </a:r>
                      <a:r>
                        <a:rPr lang="ko-KR" altLang="en-US" sz="1200" dirty="0"/>
                        <a:t>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얇게 검출됨</a:t>
                      </a:r>
                      <a:r>
                        <a:rPr lang="en-US" altLang="ko-KR" sz="1200" dirty="0"/>
                        <a:t>. Sobel</a:t>
                      </a:r>
                      <a:r>
                        <a:rPr lang="ko-KR" altLang="en-US" sz="1200" dirty="0"/>
                        <a:t>보다 방향성 없이 전체 </a:t>
                      </a:r>
                      <a:r>
                        <a:rPr lang="en-US" altLang="ko-KR" sz="1200" dirty="0"/>
                        <a:t>Edge</a:t>
                      </a:r>
                      <a:r>
                        <a:rPr lang="ko-KR" altLang="en-US" sz="1200" dirty="0"/>
                        <a:t>잡음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4218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7225D94-D79B-BAF9-5567-946C52CE89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160" y="3469183"/>
            <a:ext cx="1440000" cy="144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DDC06A-5B8A-3704-370E-A1164428FA7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479" y="3469183"/>
            <a:ext cx="1440000" cy="144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5C8DD2-DA62-9A65-BA7A-8D2FFC9DF2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636" y="3469183"/>
            <a:ext cx="1440000" cy="144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BD71FF-0DE3-2468-B93E-7C2629D5929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152" y="3469183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0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6595-0491-909C-5D74-D3B0E886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A43303E6-065D-CDFD-ADF1-373C5D428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DD7693-4AFA-D33D-2C60-7FEEF266463F}"/>
              </a:ext>
            </a:extLst>
          </p:cNvPr>
          <p:cNvSpPr txBox="1"/>
          <p:nvPr/>
        </p:nvSpPr>
        <p:spPr>
          <a:xfrm>
            <a:off x="428625" y="860733"/>
            <a:ext cx="1136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2-2. ‘lenna.png’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구현되어 있는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추가하고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구현한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적용해보고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증가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감소 관점에서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600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구현되어 있는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probability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값은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(0.0 ~ 0.2)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사이로 설정해주세요</a:t>
            </a:r>
            <a:endParaRPr lang="ko-KR" altLang="en-US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4509A12-6B01-3292-8660-2AC29C1B79D3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BC2BA1-1E25-4666-59AB-1A7E00D74757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C187DF-7BCC-4071-FA8F-402867C3AEA5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32AD41-4AFD-64CD-6142-9E7A7D5A2C97}"/>
              </a:ext>
            </a:extLst>
          </p:cNvPr>
          <p:cNvSpPr txBox="1"/>
          <p:nvPr/>
        </p:nvSpPr>
        <p:spPr>
          <a:xfrm>
            <a:off x="428626" y="1719746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F73D2F-66F4-B113-6B0E-227D76F5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4" y="2201009"/>
            <a:ext cx="5439416" cy="324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7B5B75-62DA-72E5-1B56-23284E2E5B69}"/>
              </a:ext>
            </a:extLst>
          </p:cNvPr>
          <p:cNvSpPr txBox="1"/>
          <p:nvPr/>
        </p:nvSpPr>
        <p:spPr>
          <a:xfrm>
            <a:off x="5282514" y="3313400"/>
            <a:ext cx="6579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기존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CV2026-1_HW1_Code-template.py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add_salt_pepper_noise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함수를 활용하여 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prob=0.1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추가함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노이즈 이미지에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필터를 적용해서 노이즈 감소 효과를 확인함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413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C73F-6BB8-2570-28D5-D76150DB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B2D3FB64-A83E-3EAA-238E-A5CFF0116A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70ACAF-70E1-108D-3E8F-269ECB70077A}"/>
              </a:ext>
            </a:extLst>
          </p:cNvPr>
          <p:cNvSpPr txBox="1"/>
          <p:nvPr/>
        </p:nvSpPr>
        <p:spPr>
          <a:xfrm>
            <a:off x="428625" y="860733"/>
            <a:ext cx="1136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2-2. ‘lenna.png’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구현되어 있는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추가하고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구현한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적용해보고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증가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감소 관점에서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600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구현되어 있는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probability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값은 </a:t>
            </a:r>
            <a:r>
              <a:rPr lang="en-US" altLang="ko-KR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(0.0 ~ 0.2) </a:t>
            </a:r>
            <a:r>
              <a:rPr lang="ko-KR" altLang="en-US" sz="1600" b="1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사이로 설정해주세요</a:t>
            </a:r>
            <a:endParaRPr lang="ko-KR" altLang="en-US" b="1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94A859-E2B3-ED51-FC25-8C363E856FB5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0A9758B-F85E-1DB0-9278-01EA217D24B7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CBA83C-62EE-EEF3-3E56-EBA94B12AE6E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80261-7C54-F5B4-D0CE-6F888833AA33}"/>
              </a:ext>
            </a:extLst>
          </p:cNvPr>
          <p:cNvSpPr txBox="1"/>
          <p:nvPr/>
        </p:nvSpPr>
        <p:spPr>
          <a:xfrm>
            <a:off x="428626" y="1719746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이미지 </a:t>
            </a:r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0C472D2-13EA-9ECA-CA3B-FED4BA5B4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67256"/>
              </p:ext>
            </p:extLst>
          </p:nvPr>
        </p:nvGraphicFramePr>
        <p:xfrm>
          <a:off x="845949" y="2169006"/>
          <a:ext cx="10386844" cy="3505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711">
                  <a:extLst>
                    <a:ext uri="{9D8B030D-6E8A-4147-A177-3AD203B41FA5}">
                      <a16:colId xmlns:a16="http://schemas.microsoft.com/office/drawing/2014/main" val="2924995223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3924379694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1939024217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1752221060"/>
                    </a:ext>
                  </a:extLst>
                </a:gridCol>
              </a:tblGrid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원본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Gaussian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Noise Gaussian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176461"/>
                  </a:ext>
                </a:extLst>
              </a:tr>
              <a:tr h="1845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이미지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33004"/>
                  </a:ext>
                </a:extLst>
              </a:tr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결과 분석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노이즈가 줄었지만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이미지 전체가 흐려짐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노이즈 추가 후 </a:t>
                      </a:r>
                      <a:r>
                        <a:rPr lang="en-US" altLang="ko-KR" sz="1200" dirty="0"/>
                        <a:t>Gaussian </a:t>
                      </a:r>
                      <a:r>
                        <a:rPr lang="ko-KR" altLang="en-US" sz="1200" dirty="0"/>
                        <a:t>필터를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적용하면 전체적으로 흐려지면서 노이즈가 줄어들지만</a:t>
                      </a:r>
                      <a:r>
                        <a:rPr lang="en-US" altLang="ko-KR" sz="1200" dirty="0"/>
                        <a:t>, salt and pepper</a:t>
                      </a:r>
                      <a:r>
                        <a:rPr lang="ko-KR" altLang="en-US" sz="1200" dirty="0"/>
                        <a:t>처럼 극단적인 값은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완전히 제거되지 않고 회색 점이 됨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4218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29DC5280-E844-40A4-CFD3-03D986EE87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355" y="3030518"/>
            <a:ext cx="1440000" cy="144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A8A6BC-9ADE-BA34-1BC8-860732AE37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3030518"/>
            <a:ext cx="1440000" cy="144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B691654-65C1-07DC-6964-1D160E2CE93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64" y="303051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6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9E30-083F-A892-6DC2-B75016D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8C3908C7-8356-3F7B-6AAD-F6037CB38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78E02A-0AE7-EE87-3CFC-BD29C0292544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2-3.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추가된 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Median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적용시켜 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2-2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결과와 비교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1E7B829-B861-1153-49E4-2559F692B24C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72C05FC-7ABE-66C2-48C1-69F09FCB5579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B84E4C-7EA9-7FA5-F5D5-1551459E55FB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3FCF18-28DB-7961-272A-44918471AB56}"/>
              </a:ext>
            </a:extLst>
          </p:cNvPr>
          <p:cNvSpPr txBox="1"/>
          <p:nvPr/>
        </p:nvSpPr>
        <p:spPr>
          <a:xfrm>
            <a:off x="428626" y="1522037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19E254-0E31-2C1B-9577-3B2A512D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59" y="2155065"/>
            <a:ext cx="5082936" cy="32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3CAB38-3758-1788-3DC5-E236610FDC49}"/>
              </a:ext>
            </a:extLst>
          </p:cNvPr>
          <p:cNvSpPr txBox="1"/>
          <p:nvPr/>
        </p:nvSpPr>
        <p:spPr>
          <a:xfrm>
            <a:off x="5282514" y="3313400"/>
            <a:ext cx="6579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2-2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만든 노이즈 이미지에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ksize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3, 5, 7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적용함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2-2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필터 결과와 비교하기 위해 여러 커널 크기를 시도함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881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DA87-20C6-02DC-EB6F-98501AE6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EE18ECE-8777-DC2D-EB02-C30EA0D05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5660"/>
              </p:ext>
            </p:extLst>
          </p:nvPr>
        </p:nvGraphicFramePr>
        <p:xfrm>
          <a:off x="539299" y="2308729"/>
          <a:ext cx="11257995" cy="3658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8285">
                  <a:extLst>
                    <a:ext uri="{9D8B030D-6E8A-4147-A177-3AD203B41FA5}">
                      <a16:colId xmlns:a16="http://schemas.microsoft.com/office/drawing/2014/main" val="2924995223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3924379694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2104586543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2240585324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1939024217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1752221060"/>
                    </a:ext>
                  </a:extLst>
                </a:gridCol>
                <a:gridCol w="1608285">
                  <a:extLst>
                    <a:ext uri="{9D8B030D-6E8A-4147-A177-3AD203B41FA5}">
                      <a16:colId xmlns:a16="http://schemas.microsoft.com/office/drawing/2014/main" val="3462895158"/>
                    </a:ext>
                  </a:extLst>
                </a:gridCol>
              </a:tblGrid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원본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Gaussian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Noise Gaussian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Median Blur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(kernel size 3)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Median Blur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(kernel size 5)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Median Blur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(kernel size 7)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176461"/>
                  </a:ext>
                </a:extLst>
              </a:tr>
              <a:tr h="1845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이미지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33004"/>
                  </a:ext>
                </a:extLst>
              </a:tr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결과 분석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노이즈가 줄었지만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이미지 전체가 흐려짐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노이즈 추가 후 </a:t>
                      </a:r>
                      <a:r>
                        <a:rPr lang="en-US" altLang="ko-KR" sz="1000" dirty="0"/>
                        <a:t>Gaussian </a:t>
                      </a:r>
                      <a:r>
                        <a:rPr lang="ko-KR" altLang="en-US" sz="1000" dirty="0"/>
                        <a:t>필터를 적용하면 전체적으로 흐려지면서 노이즈가 줄어들지만</a:t>
                      </a:r>
                      <a:r>
                        <a:rPr lang="en-US" altLang="ko-KR" sz="1000" dirty="0"/>
                        <a:t>, salt and pepper</a:t>
                      </a:r>
                      <a:r>
                        <a:rPr lang="ko-KR" altLang="en-US" sz="1000" dirty="0"/>
                        <a:t>처럼 극단적인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값은 완전히 제거되지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않고 회색 점이 됨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노이즈가 일정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제거됨</a:t>
                      </a:r>
                      <a:r>
                        <a:rPr lang="en-US" altLang="ko-KR" sz="1000" dirty="0"/>
                        <a:t>. Gaussian</a:t>
                      </a:r>
                      <a:r>
                        <a:rPr lang="ko-KR" altLang="en-US" sz="1000" dirty="0"/>
                        <a:t>보다 </a:t>
                      </a:r>
                      <a:r>
                        <a:rPr lang="en-US" altLang="ko-KR" sz="1000" dirty="0"/>
                        <a:t>salt and pepper </a:t>
                      </a:r>
                      <a:r>
                        <a:rPr lang="ko-KR" altLang="en-US" sz="1000" dirty="0"/>
                        <a:t>제거에 효과적이지만 커널이 작아서 아직 점 노이즈가 일부 남음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노이즈가 거의 제거되고 디테일도 적당히 유지됨</a:t>
                      </a:r>
                      <a:r>
                        <a:rPr lang="en-US" altLang="ko-KR" sz="1000" dirty="0"/>
                        <a:t>. Gaussian </a:t>
                      </a:r>
                      <a:r>
                        <a:rPr lang="ko-KR" altLang="en-US" sz="1000" dirty="0"/>
                        <a:t>결과보다 선명하면서도 노이즈 제거가 확실함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중앙값이 </a:t>
                      </a:r>
                      <a:r>
                        <a:rPr lang="ko-KR" altLang="en-US" sz="1000" dirty="0" err="1"/>
                        <a:t>극단값을</a:t>
                      </a:r>
                      <a:r>
                        <a:rPr lang="ko-KR" altLang="en-US" sz="1000" dirty="0"/>
                        <a:t> 무시하기 때문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노이즈는 완전히 사라지지만 이미지가 </a:t>
                      </a:r>
                      <a:r>
                        <a:rPr lang="ko-KR" altLang="en-US" sz="1000" dirty="0" err="1"/>
                        <a:t>뭉개지기</a:t>
                      </a:r>
                      <a:r>
                        <a:rPr lang="ko-KR" altLang="en-US" sz="1000" dirty="0"/>
                        <a:t> 시작</a:t>
                      </a:r>
                      <a:r>
                        <a:rPr lang="en-US" altLang="ko-KR" sz="1000" dirty="0"/>
                        <a:t>. Gaussian</a:t>
                      </a:r>
                      <a:r>
                        <a:rPr lang="ko-KR" altLang="en-US" sz="1000" dirty="0"/>
                        <a:t>과 비슷한 수준으로 흐려지지만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노이즈 제거는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median</a:t>
                      </a:r>
                      <a:r>
                        <a:rPr lang="ko-KR" altLang="en-US" sz="1000" dirty="0"/>
                        <a:t>이 더 좋음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42183"/>
                  </a:ext>
                </a:extLst>
              </a:tr>
            </a:tbl>
          </a:graphicData>
        </a:graphic>
      </p:graphicFrame>
      <p:pic>
        <p:nvPicPr>
          <p:cNvPr id="21" name="그래픽 20">
            <a:extLst>
              <a:ext uri="{FF2B5EF4-FFF2-40B4-BE49-F238E27FC236}">
                <a16:creationId xmlns:a16="http://schemas.microsoft.com/office/drawing/2014/main" id="{7C2AC6C3-EAF3-0D0B-E0A2-F6ED53E74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050477-5B10-085F-609C-CA0E8C29ADFB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2-3.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 and Pepper Noise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추가된 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Median Filter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적용시켜 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2-2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filter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결과와 비교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D7A407-D398-6E3B-CCC1-0E608048277C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B156B1-E429-DB2D-7199-EAED00B4AA00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2966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Filters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94F96-6A0C-E392-F5BE-51444D721B94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EF1E1-204E-0645-6E20-F0FEB4A95577}"/>
              </a:ext>
            </a:extLst>
          </p:cNvPr>
          <p:cNvSpPr txBox="1"/>
          <p:nvPr/>
        </p:nvSpPr>
        <p:spPr>
          <a:xfrm>
            <a:off x="428626" y="1522037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이미지 </a:t>
            </a:r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AE5CE5-B5A8-404F-AC30-6370355CDF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372" y="3166443"/>
            <a:ext cx="144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BDE363-0F57-2599-E6AB-B9BB8B0A89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908" y="3166443"/>
            <a:ext cx="1440000" cy="14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087A3D-9447-2E0F-3092-662320812C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821" y="3166443"/>
            <a:ext cx="1440000" cy="144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B991E94-DB7D-8FD4-C6C2-F9C3E9F3AD1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799" y="3166443"/>
            <a:ext cx="1440000" cy="144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8EBD04D-B88F-7577-9802-EA8C7AC9950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712" y="3166443"/>
            <a:ext cx="1440000" cy="144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82AE329-807C-FED7-199F-1588D4CD394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459" y="3166443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5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B6E5F-15D9-0951-CED0-845DA5F0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F6FFFC-1F95-FCB6-7255-877054EC4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2" y="2199259"/>
            <a:ext cx="6197090" cy="3240000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57F4B84B-2CA9-06BB-35E0-AD4AADE43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17894D-9AF3-3401-5010-3402AB14EC04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3-1.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cv2.resize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Up-sampling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Down-sampling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적용해보세요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Interpolation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여러 방식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(Bilinear, Cubic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등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세가지 이상 적용시켜 보고 각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interpolation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생성된 결과들에 대해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00A498D-875E-A922-819E-41F2385338AE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58BB227-0AA1-A53D-BAAB-AA1EF7A2CDFE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328A56-52EE-AE1E-B64F-E790F8941AA0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AE124-BB69-4B3F-21CE-99D9C90C5203}"/>
              </a:ext>
            </a:extLst>
          </p:cNvPr>
          <p:cNvSpPr txBox="1"/>
          <p:nvPr/>
        </p:nvSpPr>
        <p:spPr>
          <a:xfrm>
            <a:off x="5949778" y="3313400"/>
            <a:ext cx="5912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 이미지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(512×512)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cv2.resize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절반 크기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(256×256)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Down-sampling,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 배 크기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(1024×1024)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Up-sampling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수행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Down-sampling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INTER_NEAREST, INTER_LINEAR, INTER_AREA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 가지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보간법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적용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Up-sampling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INTER_NEAREST, INTER_LINEAR, INTER_CUBIC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 가지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보간법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적용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49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1E4B-CFAC-090C-9D40-FFB3331D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9E3729F2-4F8F-B30B-BA4A-5B8AA225D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8B5A0D6-2FCF-1484-1607-F29621469DF9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3-1.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cv2.resize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Up-sampling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Down-sampling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적용해보세요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Interpolation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여러 방식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(Bilinear, Cubic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등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세가지 이상 적용시켜 보고 각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interpolation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생성된 결과들에 대해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BF880E8-477E-D675-046C-3B9050FFE123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194F2FE-965C-373C-D2EE-7C87C28BA8A6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9BE51-4660-4134-1F10-5D08864CC87A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A8D05-7570-0844-9AEB-28B513828EC4}"/>
              </a:ext>
            </a:extLst>
          </p:cNvPr>
          <p:cNvSpPr txBox="1"/>
          <p:nvPr/>
        </p:nvSpPr>
        <p:spPr>
          <a:xfrm>
            <a:off x="977729" y="1894866"/>
            <a:ext cx="6094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구분	방식	해상도	파일 크기</a:t>
            </a:r>
          </a:p>
          <a:p>
            <a:r>
              <a:rPr lang="ko-KR" altLang="en-US" dirty="0" err="1"/>
              <a:t>Down</a:t>
            </a:r>
            <a:r>
              <a:rPr lang="ko-KR" altLang="en-US" dirty="0"/>
              <a:t>	NEAREST	256×256	142KB</a:t>
            </a:r>
          </a:p>
          <a:p>
            <a:r>
              <a:rPr lang="ko-KR" altLang="en-US" dirty="0" err="1"/>
              <a:t>Down</a:t>
            </a:r>
            <a:r>
              <a:rPr lang="ko-KR" altLang="en-US" dirty="0"/>
              <a:t>	LINEAR	256×256	133KB</a:t>
            </a:r>
          </a:p>
          <a:p>
            <a:r>
              <a:rPr lang="ko-KR" altLang="en-US" dirty="0" err="1"/>
              <a:t>Down</a:t>
            </a:r>
            <a:r>
              <a:rPr lang="ko-KR" altLang="en-US" dirty="0"/>
              <a:t>	AREA	256×256	133KB</a:t>
            </a:r>
          </a:p>
          <a:p>
            <a:r>
              <a:rPr lang="ko-KR" altLang="en-US" dirty="0" err="1"/>
              <a:t>Up</a:t>
            </a:r>
            <a:r>
              <a:rPr lang="ko-KR" altLang="en-US" dirty="0"/>
              <a:t>	NEAREST	1024×1024	1,414KB</a:t>
            </a:r>
          </a:p>
          <a:p>
            <a:r>
              <a:rPr lang="ko-KR" altLang="en-US" dirty="0" err="1"/>
              <a:t>Up</a:t>
            </a:r>
            <a:r>
              <a:rPr lang="ko-KR" altLang="en-US" dirty="0"/>
              <a:t>	LINEAR	1024×1024	1,551KB</a:t>
            </a:r>
          </a:p>
          <a:p>
            <a:r>
              <a:rPr lang="ko-KR" altLang="en-US" dirty="0" err="1"/>
              <a:t>Up</a:t>
            </a:r>
            <a:r>
              <a:rPr lang="ko-KR" altLang="en-US" dirty="0"/>
              <a:t>	CUBIC	1024×1024	1,687KB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03B1E-D57C-CC53-43EC-D2456FD17FE4}"/>
              </a:ext>
            </a:extLst>
          </p:cNvPr>
          <p:cNvSpPr txBox="1"/>
          <p:nvPr/>
        </p:nvSpPr>
        <p:spPr>
          <a:xfrm>
            <a:off x="1306213" y="4425508"/>
            <a:ext cx="924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Down-sampling: NEAREST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가장 가까운 픽셀 값을 그대로 가져오므로 계단 현상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(aliasing)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발생하여 파일 크기가 가장 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고주파 성분 보존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). LINEAR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AREA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주변 픽셀을 평균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가중합하여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부드러운 결과를 생성하므로 파일 크기가 더 작음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Up-sampling: NEAREST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픽셀을 단순 복제하여 블록 형태의 계단 현상이 뚜렷함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LINEAR(Bilinear)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2×2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이웃 픽셀의 가중 평균으로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보간하여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더 부드러운 결과를 생성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CUBIC(Bicubic)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4×4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이웃 픽셀을 사용하여 가장 부드럽고 선명한 결과를 생성하지만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그만큼 디테일 정보가 많아 파일 크기가 가장 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결론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보간 방식이 정교할수록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(NEAREST → LINEAR → CUBIC)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 품질이 향상되지만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원본에 없는 정보를 완벽히 복원할 수는 없음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75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EAFD-7B24-9779-C80D-1841973FA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6A687E-CF5E-39F4-2488-3AFF70125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36" y="2082113"/>
            <a:ext cx="5376624" cy="3600000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F90D628C-CE19-C431-94EF-44A9C9771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DA7F245-AEDF-D0E1-D107-102C5F4D9045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3-2.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pyrDown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Pyramid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구성해보세요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각 이미지들의 퀄리티와 크기를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557A963-7FF5-CE2D-1208-87E3BB727E45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8CB297-2884-A523-6FD0-45EBC10DBB03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CCC62C-3CDF-AFC1-9E8E-4D3532126F61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12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F5406A-221E-A680-631A-CD161723BA4C}"/>
              </a:ext>
            </a:extLst>
          </p:cNvPr>
          <p:cNvSpPr txBox="1"/>
          <p:nvPr/>
        </p:nvSpPr>
        <p:spPr>
          <a:xfrm>
            <a:off x="5245443" y="3313400"/>
            <a:ext cx="6617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build_gaussian_pyramid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함수에서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cv2.pyrDown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반복 호출하여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Pyramid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구성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pyrDown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blur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적용 후 짝수 행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열을 제거하여 해상도를 절반으로 줄임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레벨의 이미지를 저장하고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cv2.pyrUp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하위 레벨에서 상위 레벨 크기로 복원한 결과도 저장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688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C2F2-EED5-951A-6883-1A961FDC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2C1D843E-D844-6A19-FDCD-74C21BD01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AA5430-E103-5620-5784-047779CAE3E9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3-2.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OpenCV Library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pyrDown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Pyramid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구성해보세요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각 이미지들의 퀄리티와 크기를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9BAC0D0-4F8E-EAF4-AFDC-FB42C55564B8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1045C6-E725-12D7-11B6-8E1CA279F391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4E6D8-D451-A6AB-8683-20836ADE99B1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13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26DD59-4911-C0B6-3870-16B5F14423A7}"/>
              </a:ext>
            </a:extLst>
          </p:cNvPr>
          <p:cNvSpPr txBox="1"/>
          <p:nvPr/>
        </p:nvSpPr>
        <p:spPr>
          <a:xfrm>
            <a:off x="1306213" y="4425508"/>
            <a:ext cx="924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레벨이 올라갈수록 해상도가 절반씩 줄어들며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 크기도 급격히 감소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pyrDown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과정에서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blur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적용되므로 고주파 성분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엣지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디테일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점차 소실되어 이미지가 흐려짐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복원한 이미지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(gpyr_up_from1~3)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원래 레벨의 이미지보다 흐릿함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pyrDown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과정에서 손실된 고주파 정보는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만으로 복원할 수 없기 때문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gpyr_up_from1(377KB) vs gpyr_level0(521KB):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같은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512×512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이지만 복원 이미지가 더 작은 것은 디테일이 손실되어 픽셀 간 변화가 적기 때문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14B56-6463-3734-3157-9FCA46429ADD}"/>
              </a:ext>
            </a:extLst>
          </p:cNvPr>
          <p:cNvSpPr txBox="1"/>
          <p:nvPr/>
        </p:nvSpPr>
        <p:spPr>
          <a:xfrm>
            <a:off x="3047485" y="2551837"/>
            <a:ext cx="60949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레벨	해상도	파일 크기</a:t>
            </a:r>
          </a:p>
          <a:p>
            <a:r>
              <a:rPr lang="ko-KR" altLang="en-US" dirty="0" err="1"/>
              <a:t>Level</a:t>
            </a:r>
            <a:r>
              <a:rPr lang="ko-KR" altLang="en-US" dirty="0"/>
              <a:t> 0 (원본)	512×512	521KB</a:t>
            </a:r>
          </a:p>
          <a:p>
            <a:r>
              <a:rPr lang="ko-KR" altLang="en-US" dirty="0" err="1"/>
              <a:t>Level</a:t>
            </a:r>
            <a:r>
              <a:rPr lang="ko-KR" altLang="en-US" dirty="0"/>
              <a:t> 1	256×256	123KB</a:t>
            </a:r>
          </a:p>
          <a:p>
            <a:r>
              <a:rPr lang="ko-KR" altLang="en-US" dirty="0" err="1"/>
              <a:t>Level</a:t>
            </a:r>
            <a:r>
              <a:rPr lang="ko-KR" altLang="en-US" dirty="0"/>
              <a:t> 2	128×128	34KB</a:t>
            </a:r>
          </a:p>
          <a:p>
            <a:r>
              <a:rPr lang="ko-KR" altLang="en-US" dirty="0" err="1"/>
              <a:t>Level</a:t>
            </a:r>
            <a:r>
              <a:rPr lang="ko-KR" altLang="en-US" dirty="0"/>
              <a:t> 3	64×64	10KB</a:t>
            </a:r>
          </a:p>
          <a:p>
            <a:r>
              <a:rPr lang="ko-KR" altLang="en-US" dirty="0" err="1"/>
              <a:t>Level</a:t>
            </a:r>
            <a:r>
              <a:rPr lang="ko-KR" altLang="en-US" dirty="0"/>
              <a:t> 4	32×32	3KB</a:t>
            </a:r>
          </a:p>
        </p:txBody>
      </p:sp>
    </p:spTree>
    <p:extLst>
      <p:ext uri="{BB962C8B-B14F-4D97-AF65-F5344CB8AC3E}">
        <p14:creationId xmlns:p14="http://schemas.microsoft.com/office/powerpoint/2010/main" val="102341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23B2-ADD5-2DD3-EC0C-061421EE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F0DF4648-1C78-DB92-8F60-BA206DF5E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55499C-7FE4-CA02-69E6-FA38D61A6AB2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3-3.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Pyramid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적용하여 복원해보세요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가우시안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피라미드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라플리시안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피라미드를 적용한 이미지들의 퀄리티와 크기를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8E9166A-7996-A53D-058A-7D0C3285EEE0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87FBD9-3717-F860-50A0-615DA841EC7D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5FF273-BCB1-BDC4-AD73-71A7E3400EEB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14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89D014-0176-BB2D-CAE3-C644406F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61" y="1962961"/>
            <a:ext cx="4221553" cy="396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BD314D-7E23-5AA0-CD90-96137BC53847}"/>
              </a:ext>
            </a:extLst>
          </p:cNvPr>
          <p:cNvSpPr txBox="1"/>
          <p:nvPr/>
        </p:nvSpPr>
        <p:spPr>
          <a:xfrm>
            <a:off x="5115914" y="3313400"/>
            <a:ext cx="6746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build_laplacian_pyramid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함수에서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Pyramid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인접 레벨 간 차이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축소본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계산하여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Pyramid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구성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레벨은 각 해상도에서 손실된 고주파 디테일 정보를 담고 있음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시각화 시 값이 음수일 수 있으므로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+128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오프셋을 적용하여 저장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restore_from_laplacian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함수에서 가장 작은 레벨부터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+ Laplacian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합산을 반복하여 원본을 복원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6345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27340-021C-5278-A20F-7D3EEBD0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6924A5F7-33DC-34F1-8AC4-0411DDDA3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CBB36E7-EEEA-8300-52E9-6C83EC32F06F}"/>
              </a:ext>
            </a:extLst>
          </p:cNvPr>
          <p:cNvSpPr txBox="1"/>
          <p:nvPr/>
        </p:nvSpPr>
        <p:spPr>
          <a:xfrm>
            <a:off x="428626" y="860733"/>
            <a:ext cx="1136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3-3. ‘lenna.png’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이미지에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Pyramid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적용하여 복원해보세요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가우시안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피라미드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라플리시안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피라미드를 적용한 이미지들의 퀄리티와 크기를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C670359-B584-9E33-BE4D-062A441D3631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57D00C2-E7A2-1B74-5CDC-CA97EA81670C}"/>
              </a:ext>
            </a:extLst>
          </p:cNvPr>
          <p:cNvSpPr txBox="1">
            <a:spLocks/>
          </p:cNvSpPr>
          <p:nvPr/>
        </p:nvSpPr>
        <p:spPr>
          <a:xfrm>
            <a:off x="394704" y="429846"/>
            <a:ext cx="4276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Image Pyramids (30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ECBAB6-71BA-0D26-67EA-96CF2D79E17F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15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3147F-47E1-E934-C689-2426B0C689A2}"/>
              </a:ext>
            </a:extLst>
          </p:cNvPr>
          <p:cNvSpPr txBox="1"/>
          <p:nvPr/>
        </p:nvSpPr>
        <p:spPr>
          <a:xfrm>
            <a:off x="1306213" y="4425508"/>
            <a:ext cx="924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레벨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0~3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각 스케일에서의 고주파 성분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엣지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디테일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담고 있어 시각적으로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엣지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맵처럼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보임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마지막 레벨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(Level 4)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Gaussian Pyramid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최하위 레벨 그 자체로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이미지의 저주파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대략적 구조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정보를 담음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복원 이미지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(restored.png)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원본과 파일 크기가 동일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(521KB)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하며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restore_diff.png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2KB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거의 비어 있음 →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MSE ≈ 0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사실상 무손실 복원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Laplacian Pyramid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원본의 모든 주파수 정보를 분해하여 보존하기 때문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Gaussian Pyramid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만으로는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pyrUp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 고주파 손실이 발생하지만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Laplacian Pyramid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그 손실분을 별도로 저장하므로 완벽한 복원이 가능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665A3-85CE-06CF-D698-3E7D5F1C64CF}"/>
              </a:ext>
            </a:extLst>
          </p:cNvPr>
          <p:cNvSpPr txBox="1"/>
          <p:nvPr/>
        </p:nvSpPr>
        <p:spPr>
          <a:xfrm>
            <a:off x="3047485" y="1997839"/>
            <a:ext cx="60949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레벨	해상도	파일 크기	설명</a:t>
            </a:r>
          </a:p>
          <a:p>
            <a:r>
              <a:rPr lang="ko-KR" altLang="en-US" dirty="0" err="1"/>
              <a:t>Laplacian</a:t>
            </a:r>
            <a:r>
              <a:rPr lang="ko-KR" altLang="en-US" dirty="0"/>
              <a:t> 0	512×512	496KB	가장 세밀한 디테일 (</a:t>
            </a:r>
            <a:r>
              <a:rPr lang="ko-KR" altLang="en-US" dirty="0" err="1"/>
              <a:t>엣지</a:t>
            </a:r>
            <a:r>
              <a:rPr lang="ko-KR" altLang="en-US" dirty="0"/>
              <a:t>, 텍스처)</a:t>
            </a:r>
          </a:p>
          <a:p>
            <a:r>
              <a:rPr lang="ko-KR" altLang="en-US" dirty="0" err="1"/>
              <a:t>Laplacian</a:t>
            </a:r>
            <a:r>
              <a:rPr lang="ko-KR" altLang="en-US" dirty="0"/>
              <a:t> 1	256×256	109KB	중간 스케일 디테일</a:t>
            </a:r>
          </a:p>
          <a:p>
            <a:r>
              <a:rPr lang="ko-KR" altLang="en-US" dirty="0" err="1"/>
              <a:t>Laplacian</a:t>
            </a:r>
            <a:r>
              <a:rPr lang="ko-KR" altLang="en-US" dirty="0"/>
              <a:t> 2	128×128	31KB	큰 스케일 디테일</a:t>
            </a:r>
          </a:p>
          <a:p>
            <a:r>
              <a:rPr lang="ko-KR" altLang="en-US" dirty="0" err="1"/>
              <a:t>Laplacian</a:t>
            </a:r>
            <a:r>
              <a:rPr lang="ko-KR" altLang="en-US" dirty="0"/>
              <a:t> 3	64×64	9KB	거친 디테일</a:t>
            </a:r>
          </a:p>
          <a:p>
            <a:r>
              <a:rPr lang="ko-KR" altLang="en-US" dirty="0" err="1"/>
              <a:t>Laplacian</a:t>
            </a:r>
            <a:r>
              <a:rPr lang="ko-KR" altLang="en-US" dirty="0"/>
              <a:t> 4	32×32	3KB	최저해상도 </a:t>
            </a:r>
            <a:r>
              <a:rPr lang="ko-KR" altLang="en-US" dirty="0" err="1"/>
              <a:t>Gaussian</a:t>
            </a:r>
            <a:r>
              <a:rPr lang="ko-KR" altLang="en-US" dirty="0"/>
              <a:t> (</a:t>
            </a:r>
            <a:r>
              <a:rPr lang="ko-KR" altLang="en-US" dirty="0" err="1"/>
              <a:t>잔차</a:t>
            </a:r>
            <a:r>
              <a:rPr lang="ko-KR" altLang="en-US" dirty="0"/>
              <a:t> 아님)</a:t>
            </a:r>
          </a:p>
          <a:p>
            <a:r>
              <a:rPr lang="ko-KR" altLang="en-US" dirty="0" err="1"/>
              <a:t>Restored</a:t>
            </a:r>
            <a:r>
              <a:rPr lang="ko-KR" altLang="en-US" dirty="0"/>
              <a:t>	512×512	521KB	복원 이미지</a:t>
            </a:r>
          </a:p>
          <a:p>
            <a:r>
              <a:rPr lang="ko-KR" altLang="en-US" dirty="0" err="1"/>
              <a:t>Restore</a:t>
            </a:r>
            <a:r>
              <a:rPr lang="ko-KR" altLang="en-US" dirty="0"/>
              <a:t> </a:t>
            </a:r>
            <a:r>
              <a:rPr lang="ko-KR" altLang="en-US" dirty="0" err="1"/>
              <a:t>Diff</a:t>
            </a:r>
            <a:r>
              <a:rPr lang="ko-KR" altLang="en-US" dirty="0"/>
              <a:t>	512×512	2KB	원본과의 차이</a:t>
            </a:r>
          </a:p>
        </p:txBody>
      </p:sp>
    </p:spTree>
    <p:extLst>
      <p:ext uri="{BB962C8B-B14F-4D97-AF65-F5344CB8AC3E}">
        <p14:creationId xmlns:p14="http://schemas.microsoft.com/office/powerpoint/2010/main" val="184242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FEBD-D559-D015-CBBE-76A3A7CA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4FEF0949-992B-AD41-E3E8-8972DE25E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C2E24D-F116-322B-9E08-26B47568C39E}"/>
              </a:ext>
            </a:extLst>
          </p:cNvPr>
          <p:cNvSpPr txBox="1"/>
          <p:nvPr/>
        </p:nvSpPr>
        <p:spPr>
          <a:xfrm>
            <a:off x="428626" y="860733"/>
            <a:ext cx="1136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4-1.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적용해보았던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Median Blur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Numpy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라이브러리를 활용하여 직접 구현해보세요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np.sort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모든 라이브러리 사용이 가능합니다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cv2.medianBlur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사용하지 않고 구현한 후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결과를 검증하기 위하여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결과와 직접 구현한 결과를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B56C6FC-595B-92D6-7125-12FF3B5CB12C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B04F62-C980-2293-86F0-A04D493BE643}"/>
              </a:ext>
            </a:extLst>
          </p:cNvPr>
          <p:cNvSpPr txBox="1">
            <a:spLocks/>
          </p:cNvSpPr>
          <p:nvPr/>
        </p:nvSpPr>
        <p:spPr>
          <a:xfrm>
            <a:off x="394705" y="429846"/>
            <a:ext cx="4720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Median Blur </a:t>
            </a:r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 구현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044C32-7E4B-196F-FA4F-32453D0C0810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16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FCCCA9-94F7-0B8C-FBAC-072EBE5306E1}"/>
              </a:ext>
            </a:extLst>
          </p:cNvPr>
          <p:cNvSpPr txBox="1"/>
          <p:nvPr/>
        </p:nvSpPr>
        <p:spPr>
          <a:xfrm>
            <a:off x="428626" y="1719746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F584CA-DA86-56FC-65B1-8BEBCF0A9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59" y="2117094"/>
            <a:ext cx="4851132" cy="39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8C58D5-850F-78C5-7673-A68A25C4D1DA}"/>
              </a:ext>
            </a:extLst>
          </p:cNvPr>
          <p:cNvSpPr txBox="1"/>
          <p:nvPr/>
        </p:nvSpPr>
        <p:spPr>
          <a:xfrm>
            <a:off x="5282514" y="1742603"/>
            <a:ext cx="657997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</a:t>
            </a:r>
            <a:r>
              <a:rPr lang="ko-KR" altLang="en-US" sz="12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공식 문서</a:t>
            </a:r>
            <a:r>
              <a:rPr lang="en-US" altLang="ko-KR" sz="12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OpenCV: Image </a:t>
            </a:r>
            <a:r>
              <a:rPr lang="en-US" altLang="ko-KR" sz="12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Filtering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를 참고하여 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ko-KR" altLang="en-US" sz="1200" dirty="0">
                <a:solidFill>
                  <a:srgbClr val="FF0000"/>
                </a:solidFill>
              </a:rPr>
              <a:t>커널 내 픽셀을 정렬한 뒤 중앙값을 취하는 방식으로 직접 구현함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en-US" altLang="ko-KR" sz="12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half = size // 2 #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커널의 반지름을 구함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200" dirty="0"/>
              <a:t>→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size=5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면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half=2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이고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현재 픽셀 기준 상하좌우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칸씩이 윈도우 범위가 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result =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image.copy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 #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배열을 원본 복사로 초기화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200" dirty="0"/>
              <a:t>→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경계 픽셀은 윈도우가 이미지 밖으로 나가서 처리할 수 없으므로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 값을 그대로 유지하기 위함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: for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in range(half,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image.shape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[0] - half) #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경계 제외 영역만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iteration. </a:t>
            </a:r>
          </a:p>
          <a:p>
            <a:r>
              <a:rPr lang="ko-KR" altLang="en-US" sz="1200" dirty="0"/>
              <a:t>→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위아래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half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만큼은 생략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템플릿 코드에서 패딩은 고려하지 않아도 된다고 했기 때문에 이렇게 처리함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10, 17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: window = image[i-half:i+half+1, j-half:j+half+1, c].flatten() </a:t>
            </a:r>
            <a:b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200" b="1" dirty="0"/>
              <a:t>→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현재 픽셀 중심으로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size*size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영역을 잘라서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차원 배열로 펼침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11, 18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en-US" altLang="ko-KR" sz="12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window.sort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</a:t>
            </a:r>
          </a:p>
          <a:p>
            <a:r>
              <a:rPr lang="ko-KR" altLang="en-US" sz="1200" b="1" dirty="0"/>
              <a:t>→ </a:t>
            </a:r>
            <a:r>
              <a:rPr lang="en-US" altLang="ko-KR" sz="12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numpy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배열 정렬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오름차순으로 정렬됨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12, 19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줄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result[</a:t>
            </a:r>
            <a:r>
              <a:rPr lang="en-US" altLang="ko-KR" sz="12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j, c] = window[</a:t>
            </a:r>
            <a:r>
              <a:rPr lang="en-US" altLang="ko-KR" sz="12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(window) // 2]</a:t>
            </a:r>
          </a:p>
          <a:p>
            <a:r>
              <a:rPr lang="ko-KR" altLang="en-US" sz="1200" b="1" dirty="0"/>
              <a:t>→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정렬된 배열의 가운데 값을 결과 픽셀에 넣음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size=5 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경우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25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중 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12</a:t>
            </a:r>
            <a:r>
              <a:rPr lang="ko-KR" altLang="en-US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번째 인덱스가 중앙값</a:t>
            </a:r>
            <a:r>
              <a:rPr lang="en-US" altLang="ko-KR" sz="12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컬러 이미지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ndim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== 3)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때는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B, G, R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채널을 각각 독립적으로 처리함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채널 간 상관관계는 고려하지 않음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*grayscale(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ndim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== 2)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때는 채널 루프 없이 동일한 로직을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2D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처리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BE70BD-30E4-EC72-A21E-F05D78FD9EB7}"/>
              </a:ext>
            </a:extLst>
          </p:cNvPr>
          <p:cNvSpPr/>
          <p:nvPr/>
        </p:nvSpPr>
        <p:spPr>
          <a:xfrm>
            <a:off x="1318476" y="3301955"/>
            <a:ext cx="3896075" cy="596601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B40710-0950-223C-6E9D-B65C32FAE3C4}"/>
              </a:ext>
            </a:extLst>
          </p:cNvPr>
          <p:cNvSpPr/>
          <p:nvPr/>
        </p:nvSpPr>
        <p:spPr>
          <a:xfrm>
            <a:off x="1318475" y="4010409"/>
            <a:ext cx="3896076" cy="740764"/>
          </a:xfrm>
          <a:prstGeom prst="rect">
            <a:avLst/>
          </a:prstGeom>
          <a:noFill/>
          <a:ln w="28575">
            <a:solidFill>
              <a:srgbClr val="264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12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CA6D-5899-298F-8C79-9AA8E4CA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02B206C5-F1CF-608B-6DFA-A80912713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213" y="6440415"/>
            <a:ext cx="1244082" cy="297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3273001-C6D8-9E52-3DAC-80BFC4F32F03}"/>
              </a:ext>
            </a:extLst>
          </p:cNvPr>
          <p:cNvSpPr txBox="1"/>
          <p:nvPr/>
        </p:nvSpPr>
        <p:spPr>
          <a:xfrm>
            <a:off x="428626" y="860733"/>
            <a:ext cx="1136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4-1.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앞서 적용해보았던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Median Blur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Numpy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라이브러리를 활용하여 직접 구현해보세요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때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1600" dirty="0" err="1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np.sort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모든 라이브러리 사용이 가능합니다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b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cv2.medianBlur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사용하지 않고 구현한 후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결과를 검증하기 위하여 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cv2.medianBlur </a:t>
            </a:r>
            <a:r>
              <a:rPr lang="ko-KR" altLang="en-US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결과와 직접 구현한 결과를 분석해보세요</a:t>
            </a:r>
            <a:r>
              <a:rPr lang="en-US" altLang="ko-KR" sz="16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7836BD9-113D-6136-2E3A-D57B4FFBEA81}"/>
              </a:ext>
            </a:extLst>
          </p:cNvPr>
          <p:cNvCxnSpPr>
            <a:cxnSpLocks/>
          </p:cNvCxnSpPr>
          <p:nvPr/>
        </p:nvCxnSpPr>
        <p:spPr>
          <a:xfrm>
            <a:off x="394705" y="830424"/>
            <a:ext cx="11402590" cy="0"/>
          </a:xfrm>
          <a:prstGeom prst="line">
            <a:avLst/>
          </a:prstGeom>
          <a:ln w="25400">
            <a:solidFill>
              <a:srgbClr val="264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77A3C0-9D07-5C41-1440-C04CADA7DBCA}"/>
              </a:ext>
            </a:extLst>
          </p:cNvPr>
          <p:cNvSpPr txBox="1">
            <a:spLocks/>
          </p:cNvSpPr>
          <p:nvPr/>
        </p:nvSpPr>
        <p:spPr>
          <a:xfrm>
            <a:off x="394705" y="429846"/>
            <a:ext cx="4720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Median Blur </a:t>
            </a:r>
            <a:r>
              <a:rPr lang="ko-KR" altLang="en-US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 구현 </a:t>
            </a:r>
            <a:r>
              <a:rPr lang="en-US" altLang="ko-KR" sz="2200" dirty="0">
                <a:solidFill>
                  <a:srgbClr val="26413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(20 pts)</a:t>
            </a:r>
            <a:endParaRPr lang="ko-KR" altLang="en-US" sz="2200" dirty="0">
              <a:solidFill>
                <a:srgbClr val="26413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74D5B7-363E-E62D-EFA1-16B607034763}"/>
              </a:ext>
            </a:extLst>
          </p:cNvPr>
          <p:cNvSpPr txBox="1"/>
          <p:nvPr/>
        </p:nvSpPr>
        <p:spPr>
          <a:xfrm>
            <a:off x="10668291" y="555718"/>
            <a:ext cx="112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 수 </a:t>
            </a:r>
            <a:r>
              <a:rPr lang="en-US" altLang="ko-KR" sz="1200" dirty="0">
                <a:solidFill>
                  <a:srgbClr val="26413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17</a:t>
            </a:r>
            <a:endParaRPr lang="ko-KR" altLang="en-US" sz="1200" dirty="0">
              <a:solidFill>
                <a:srgbClr val="26413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FD17E6-8C0A-F1F9-8DE9-DA14B03C75AE}"/>
              </a:ext>
            </a:extLst>
          </p:cNvPr>
          <p:cNvSpPr txBox="1"/>
          <p:nvPr/>
        </p:nvSpPr>
        <p:spPr>
          <a:xfrm>
            <a:off x="428626" y="1719746"/>
            <a:ext cx="618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 이미지 </a:t>
            </a:r>
            <a:r>
              <a:rPr lang="ko-KR" altLang="en-US" b="1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설명</a:t>
            </a:r>
            <a:endParaRPr lang="en-US" altLang="ko-KR" b="1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1BEAF9-944F-D831-B7A3-2FA003CAD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350"/>
              </p:ext>
            </p:extLst>
          </p:nvPr>
        </p:nvGraphicFramePr>
        <p:xfrm>
          <a:off x="845949" y="2169006"/>
          <a:ext cx="10386844" cy="3322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711">
                  <a:extLst>
                    <a:ext uri="{9D8B030D-6E8A-4147-A177-3AD203B41FA5}">
                      <a16:colId xmlns:a16="http://schemas.microsoft.com/office/drawing/2014/main" val="2924995223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3924379694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1939024217"/>
                    </a:ext>
                  </a:extLst>
                </a:gridCol>
                <a:gridCol w="2596711">
                  <a:extLst>
                    <a:ext uri="{9D8B030D-6E8A-4147-A177-3AD203B41FA5}">
                      <a16:colId xmlns:a16="http://schemas.microsoft.com/office/drawing/2014/main" val="1752221060"/>
                    </a:ext>
                  </a:extLst>
                </a:gridCol>
              </a:tblGrid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Cv2.medianBlur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(kernel size 5)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/>
                        <a:t>my_median_blur</a:t>
                      </a:r>
                      <a:endParaRPr lang="en-US" altLang="ko-KR" sz="14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(kernel size 5)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차이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176461"/>
                  </a:ext>
                </a:extLst>
              </a:tr>
              <a:tr h="1845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이미지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33004"/>
                  </a:ext>
                </a:extLst>
              </a:tr>
              <a:tr h="654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결과 분석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OpenCV </a:t>
                      </a:r>
                      <a:r>
                        <a:rPr lang="ko-KR" altLang="en-US" sz="1200" dirty="0"/>
                        <a:t>내장 함수</a:t>
                      </a:r>
                      <a:r>
                        <a:rPr lang="en-US" altLang="ko-KR" sz="1200" dirty="0"/>
                        <a:t>.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 err="1"/>
                        <a:t>ksize</a:t>
                      </a:r>
                      <a:r>
                        <a:rPr lang="en-US" altLang="ko-KR" sz="1200" dirty="0"/>
                        <a:t>=5</a:t>
                      </a:r>
                      <a:r>
                        <a:rPr lang="ko-KR" altLang="en-US" sz="1200" dirty="0"/>
                        <a:t>로 노이즈 이미지에 적용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numpy.sort</a:t>
                      </a:r>
                      <a:r>
                        <a:rPr lang="ko-KR" altLang="en-US" sz="1200" dirty="0"/>
                        <a:t>로 직접 구현</a:t>
                      </a:r>
                      <a:r>
                        <a:rPr lang="en-US" altLang="ko-KR" sz="1200" dirty="0"/>
                        <a:t>.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각 픽셀에서 </a:t>
                      </a:r>
                      <a:r>
                        <a:rPr lang="en-US" altLang="ko-KR" sz="1200" dirty="0"/>
                        <a:t>5x5 </a:t>
                      </a:r>
                      <a:r>
                        <a:rPr lang="ko-KR" altLang="en-US" sz="1200" dirty="0"/>
                        <a:t>윈도우를 잘라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정렬 후 중앙값을 취함</a:t>
                      </a:r>
                      <a:r>
                        <a:rPr lang="en-US" altLang="ko-KR" sz="1200" dirty="0"/>
                        <a:t>.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경계는 패딩 없이 원본 값 유지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두 이미지의 </a:t>
                      </a:r>
                      <a:r>
                        <a:rPr lang="en-US" altLang="ko-KR" sz="1200" dirty="0" err="1"/>
                        <a:t>absdiff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결과가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검정으로 나옴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경계의 </a:t>
                      </a:r>
                      <a:r>
                        <a:rPr lang="en-US" altLang="ko-KR" sz="1200" dirty="0"/>
                        <a:t>padding</a:t>
                      </a:r>
                      <a:r>
                        <a:rPr lang="ko-KR" altLang="en-US" sz="1200" dirty="0"/>
                        <a:t>은 고려하지 않은 상태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42183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F473826-3415-C48B-05F1-498AECD015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416" y="3030518"/>
            <a:ext cx="1440000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BE062B-6DB2-E3D0-97DB-8C1B6B50DC6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3026184"/>
            <a:ext cx="144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670079D-2133-9BAE-C653-6E6437D829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284" y="3026184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폰트, 그린이(가) 표시된 사진&#10;&#10;자동 생성된 설명">
            <a:extLst>
              <a:ext uri="{FF2B5EF4-FFF2-40B4-BE49-F238E27FC236}">
                <a16:creationId xmlns:a16="http://schemas.microsoft.com/office/drawing/2014/main" id="{EA5F516A-7D17-60BF-6F80-9ABE14DED6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1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643A2F-E325-EE3A-9ADD-5408D8EF5C4C}"/>
              </a:ext>
            </a:extLst>
          </p:cNvPr>
          <p:cNvSpPr txBox="1"/>
          <p:nvPr/>
        </p:nvSpPr>
        <p:spPr>
          <a:xfrm>
            <a:off x="2652319" y="2828836"/>
            <a:ext cx="6887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감사합니다</a:t>
            </a:r>
            <a:r>
              <a:rPr lang="en-US" altLang="ko-KR" sz="7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7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15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000" smtClean="0">
            <a:solidFill>
              <a:schemeClr val="tx1"/>
            </a:solidFill>
            <a:latin typeface="Noto Sans CJK KR Light" panose="020B0300000000000000" pitchFamily="34" charset="-127"/>
            <a:ea typeface="Noto Sans CJK KR Light" panose="020B0300000000000000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3EB85733FE23B4897BBEF11A21F6898" ma:contentTypeVersion="0" ma:contentTypeDescription="새 문서를 만듭니다." ma:contentTypeScope="" ma:versionID="ab691783de03aa8233c9302902543e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b71a8a89f8f7d9719d4d8d25a9f3b4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054071-C70F-458E-A684-E8AE5F184F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8FAC38-4289-4C6A-A896-DC5E4CFB75F7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88DF8CC-8689-4341-96AC-F866079247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2493</Words>
  <Application>Microsoft Office PowerPoint</Application>
  <PresentationFormat>와이드스크린</PresentationFormat>
  <Paragraphs>206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 Light</vt:lpstr>
      <vt:lpstr>Pretendard SemiBold</vt:lpstr>
      <vt:lpstr>Arial</vt:lpstr>
      <vt:lpstr>Pretendard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임재열</dc:creator>
  <cp:lastModifiedBy>Susie Choi</cp:lastModifiedBy>
  <cp:revision>439</cp:revision>
  <dcterms:created xsi:type="dcterms:W3CDTF">2023-03-29T06:32:12Z</dcterms:created>
  <dcterms:modified xsi:type="dcterms:W3CDTF">2026-04-07T18:37:39Z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0x01010023EB85733FE23B4897BBEF11A21F6898</vt:lpwstr>
  </property>
</Properties>
</file>